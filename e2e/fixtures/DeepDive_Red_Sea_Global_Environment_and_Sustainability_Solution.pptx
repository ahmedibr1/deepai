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DeepDive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00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by stc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DeepDive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NUMBER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OP-2026-159388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86200" y="33832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NAME</a:t>
            </a:r>
            <a:endParaRPr lang="en-US" sz="1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and Sustainability Solution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6949440" cy="1143000"/>
          </a:xfrm>
          <a:prstGeom prst="roundRect">
            <a:avLst>
              <a:gd name="adj" fmla="val 9600"/>
            </a:avLst>
          </a:prstGeom>
          <a:solidFill>
            <a:srgbClr val="2A0049"/>
          </a:solidFill>
          <a:ln w="12700">
            <a:solidFill>
              <a:srgbClr val="2A00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230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CRITERIA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68680" y="5577840"/>
            <a:ext cx="274320" cy="2743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5649163"/>
            <a:ext cx="131674" cy="1316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2728" y="55046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SAR 20M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value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108960" y="5577840"/>
            <a:ext cx="274320" cy="2743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283" y="5649163"/>
            <a:ext cx="131674" cy="1316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93008" y="55046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projects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349240" y="5577840"/>
            <a:ext cx="274320" cy="2743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563" y="5649163"/>
            <a:ext cx="131674" cy="1316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33288" y="55046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9164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48132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916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41648" y="148132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NAME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and Sustainability Solution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916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76288" y="148132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NUMBER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OP-2026-159388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9052560" y="137160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16916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10928" y="148132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VALUE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 28,000,000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48640" y="256032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880360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07008" y="26700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PRESALES RECEIVED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02/08/2026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3383280" y="256032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880360"/>
            <a:ext cx="329184" cy="3291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041648" y="26700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DATE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28/09/2026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217920" y="256032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880360"/>
            <a:ext cx="329184" cy="32918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76288" y="26700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PRESALES OWNER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Rabie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9052560" y="2560320"/>
            <a:ext cx="2587752" cy="960120"/>
          </a:xfrm>
          <a:prstGeom prst="roundRect">
            <a:avLst>
              <a:gd name="adj" fmla="val 11429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728" y="2880360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710928" y="2670048"/>
            <a:ext cx="1828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MANAGER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Saleh Halawani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5486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Background / History</a:t>
            </a:r>
            <a:endParaRPr lang="en-US" sz="2000" dirty="0"/>
          </a:p>
        </p:txBody>
      </p:sp>
      <p:sp>
        <p:nvSpPr>
          <p:cNvPr id="32" name="Shape 22"/>
          <p:cNvSpPr/>
          <p:nvPr/>
        </p:nvSpPr>
        <p:spPr>
          <a:xfrm>
            <a:off x="548640" y="4480560"/>
            <a:ext cx="11091672" cy="1691640"/>
          </a:xfrm>
          <a:prstGeom prst="roundRect">
            <a:avLst>
              <a:gd name="adj" fmla="val 6486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822960" y="4645152"/>
            <a:ext cx="1056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phase 1 (MVP) was implemented by DEYARAT and the customer was not happy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opportunity is for the next phases of the existing opportunity: phases 3, 4 and 5 (Full Scale, Testing, MS)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22392" cy="4800600"/>
          </a:xfrm>
          <a:prstGeom prst="roundRect">
            <a:avLst>
              <a:gd name="adj" fmla="val 2286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0352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5727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Business Need / Pain Point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2441448"/>
            <a:ext cx="274320" cy="2743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61872" y="228600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 for Smart Environment &amp; Sustainability.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542239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1572768"/>
            <a:ext cx="502920" cy="502920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1703527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92240" y="228600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and operationalize RSG's Smart Environment &amp; Sustainability solution as a unified platform for environmental monitoring, environmental intelligence, asset management, analytics, AI, reporting, alerts, and integration with the broader Smart Destination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Duration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167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0352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/ Deliverables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28600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IoT Platform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types of Cameras (Bird Nest, Sky Quality, Traps, Underwater)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types of Sensors (In-situ Hydrophones, MET Ocean Buoys, Sky Quality Meters)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and hardware integration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5422392" cy="1051560"/>
          </a:xfrm>
          <a:prstGeom prst="roundRect">
            <a:avLst>
              <a:gd name="adj" fmla="val 10435"/>
            </a:avLst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58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5212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Duration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57600" y="5212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5120640"/>
            <a:ext cx="5422392" cy="1051560"/>
          </a:xfrm>
          <a:prstGeom prst="roundRect">
            <a:avLst>
              <a:gd name="adj" fmla="val 10435"/>
            </a:avLst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45896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5212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Duration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DB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326880" y="5212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Internal, Partners and Vendors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380012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280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Stakeholders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 by solutions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project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service project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3437412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3337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and Vendors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13048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234440"/>
                <a:gridCol w="1325880"/>
                <a:gridCol w="5696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/ Partner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 Registration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/ Subsidiary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7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7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types of Cameras (Bird Nest, Sky Quality, Traps, Underwater)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types of Sensors (In-situ Hydrophones, MET Ocean Buoys, Sky Quality Meters)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00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a vendor / partner: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 declined in writing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SenseTime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7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Unified Platform, PS and MS.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36192"/>
            <a:ext cx="411480" cy="411480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643177"/>
            <a:ext cx="197510" cy="1975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5179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Decision Driver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quality of the implementation by DEYARAT in phase 1 (MVP) was not up to customer expectations.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7315200" cy="1188720"/>
          </a:xfrm>
          <a:prstGeom prst="roundRect">
            <a:avLst>
              <a:gd name="adj" fmla="val 9231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2816352"/>
            <a:ext cx="411480" cy="41148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5" y="2923337"/>
            <a:ext cx="197510" cy="1975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79806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Differentiator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3154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aligned with Intyx, and solutions by stc is working with Intyx instead of DEYARAT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from SenseTime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0" y="1536192"/>
            <a:ext cx="411480" cy="411480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585" y="1643177"/>
            <a:ext cx="197510" cy="1975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78240" y="1517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77824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DEYARAT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46720" y="2651760"/>
            <a:ext cx="3593592" cy="1188720"/>
          </a:xfrm>
          <a:prstGeom prst="roundRect">
            <a:avLst>
              <a:gd name="adj" fmla="val 9231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0" y="2816352"/>
            <a:ext cx="411480" cy="41148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585" y="2923337"/>
            <a:ext cx="197510" cy="19751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8240" y="27980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Engagement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77824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Proactive: 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PoC, Workshop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931920"/>
            <a:ext cx="54223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4041648"/>
            <a:ext cx="411480" cy="411480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5" y="4148633"/>
            <a:ext cx="197510" cy="19751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041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Win — Technically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31520" y="4544568"/>
            <a:ext cx="5056632" cy="493776"/>
          </a:xfrm>
          <a:prstGeom prst="roundRect">
            <a:avLst>
              <a:gd name="adj" fmla="val 22222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41248" y="454456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143000" y="45720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 with the technical criteria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480560" y="4572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Rabie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24/09/2026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217920" y="3931920"/>
            <a:ext cx="54223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446520" y="4041648"/>
            <a:ext cx="411480" cy="41148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505" y="4148633"/>
            <a:ext cx="197510" cy="19751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4041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Win — Financially</a:t>
            </a:r>
            <a:endParaRPr lang="en-US" sz="1500" dirty="0"/>
          </a:p>
        </p:txBody>
      </p:sp>
      <p:sp>
        <p:nvSpPr>
          <p:cNvPr id="39" name="Shape 31"/>
          <p:cNvSpPr/>
          <p:nvPr/>
        </p:nvSpPr>
        <p:spPr>
          <a:xfrm>
            <a:off x="6400800" y="4544568"/>
            <a:ext cx="5056632" cy="493776"/>
          </a:xfrm>
          <a:prstGeom prst="roundRect">
            <a:avLst>
              <a:gd name="adj" fmla="val 22222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510528" y="4544568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812280" y="45720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customer target price (28M)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0149840" y="4572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Saleh Halawani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27/09/2026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Gaps &amp; Mitigation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2239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4F008C"/>
          </a:solidFill>
          <a:ln w="12700">
            <a:solidFill>
              <a:srgbClr val="4F00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733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— Technically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7680" y="1554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5056632" cy="731520"/>
          </a:xfrm>
          <a:prstGeom prst="roundRect">
            <a:avLst>
              <a:gd name="adj" fmla="val 15000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1488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07008" y="21854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Pulse capabilities in environmental monitoring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Intyx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225856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F2E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2258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480560" y="2532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Rabie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24/09/2026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17920" y="1371600"/>
            <a:ext cx="5422392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E4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67335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— Financially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966960" y="1554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400800" y="2148840"/>
            <a:ext cx="5056632" cy="731520"/>
          </a:xfrm>
          <a:prstGeom prst="roundRect">
            <a:avLst>
              <a:gd name="adj" fmla="val 15000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10528" y="21488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876288" y="21854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pricing (35M) vs customer budget (28M)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</a:t>
            </a:r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of commercial discussion with vendors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0287000" y="225856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E0E6"/>
          </a:solidFill>
          <a:ln w="12700">
            <a:solidFill>
              <a:srgbClr val="FFE0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287000" y="2258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149840" y="2532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Saleh Halawani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27/09/2026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Presales Readiness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143000"/>
                <a:gridCol w="1143000"/>
                <a:gridCol w="1143000"/>
                <a:gridCol w="1188720"/>
                <a:gridCol w="1143000"/>
                <a:gridCol w="15819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Name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/ Vendor / Partner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 Received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Received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 Validated?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 Validated?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008C"/>
                    </a:solidFill>
                  </a:tcPr>
                </a:tc>
              </a:tr>
              <a:tr h="384048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00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IoT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SenseTime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00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Bird Nest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B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Sky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Underwater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In-situ Hydrophones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 Ocean Buoys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7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Sky Quality Meters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Intyx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6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17320" y="38404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Needed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7112" y="384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Sea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DeepDive  •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rgbClr val="FF375E"/>
          </a:solidFill>
          <a:ln w="12700">
            <a:solidFill>
              <a:srgbClr val="FF37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1380012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280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win this opportunity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12680" y="1280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by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82880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4EFF8"/>
          </a:solidFill>
          <a:ln w="12700">
            <a:solidFill>
              <a:srgbClr val="F4EF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8288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18745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by solutions to participate in the integration part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</a:t>
            </a:r>
            <a:pPr indent="0" marL="0">
              <a:buNone/>
            </a:pPr>
            <a:r>
              <a:rPr lang="en-US" sz="1000" dirty="0">
                <a:solidFill>
                  <a:srgbClr val="6E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by solutions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0" y="2020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E6FF"/>
          </a:solidFill>
          <a:ln w="12700">
            <a:solidFill>
              <a:srgbClr val="F2E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2020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1268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17/09/2026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Opportunity DeepDive — Environment and Sustainability Solution</dc:title>
  <dc:subject>PptxGenJS Presentation</dc:subject>
  <dc:creator>PptxGenJS</dc:creator>
  <cp:lastModifiedBy>PptxGenJS</cp:lastModifiedBy>
  <cp:revision>1</cp:revision>
  <dcterms:created xsi:type="dcterms:W3CDTF">2026-09-17T11:46:43Z</dcterms:created>
  <dcterms:modified xsi:type="dcterms:W3CDTF">2026-09-17T11:46:43Z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epDiveBuilderVersion">
    <vt:lpwstr>2</vt:lpwstr>
  </property>
  <property fmtid="{D5CDD505-2E9C-101B-9397-08002B2CF9AE}" pid="3" name="DeepDiveData_000">
    <vt:lpwstr>eyJjdXN0b21lciI6IlJlZCBTZWEgR2xvYmFsIiwib3BwTmFtZSI6IkVudmlyb25tZW50IGFuZCBTdXN0YWluYWJpbGl0eSBTb2x1dGlvbiIsIm9wcE51bWJlciI6Ik9QLTIwMjYtMTU5Mzg4IiwidmFsdWUiOiIyODAwMDAwMCIsInByZXNhbGVzUmVjZWl2ZWQiOiIyMDI2LTA4LTAyIiwic3VibWlzc2lvbkRhdGUiOiIy</vt:lpwstr>
  </property>
  <property fmtid="{D5CDD505-2E9C-101B-9397-08002B2CF9AE}" pid="4" name="DeepDiveData_001">
    <vt:lpwstr>MDI2LTA5LTI4IiwicHJlc2FsZXNPd25lciI6Ik1vaGFtbWVkIFJhYmllIiwiYWNjb3VudE1hbmFnZXIiOiJTYWxlaCBIYWxhd2FuaSIsImJhY2tncm91bmQiOiJQcmV2aW91cyBwaGFzZSAxIChNVlApIHdhcyBpbXBsZW1lbnRlZCBieSBERVlBUkFUIGFuZCB0aGUgY3VzdG9tZXIgd2FzIG5vdCBoYXBweVxuVGhpcyBv</vt:lpwstr>
  </property>
  <property fmtid="{D5CDD505-2E9C-101B-9397-08002B2CF9AE}" pid="5" name="DeepDiveData_002">
    <vt:lpwstr>cHBvcnR1bml0eSBpcyBmb3IgdGhlIG5leHQgcGhhc2VzIG9mIHRoZSBleGlzdGluZyBvcHBvcnR1bml0eTogcGhhc2VzIDMsIDQgYW5kIDUgKEZ1bGwgU2NhbGUsIFRlc3RpbmcsIE1TKSIsInJlcXVpcmVtZW50cyI6W3sidGV4dCI6IlVuaWZpZWQgcGxhdGZvcm0gZm9yIFNtYXJ0IEVudmlyb25tZW50ICYgU3VzdGFp</vt:lpwstr>
  </property>
  <property fmtid="{D5CDD505-2E9C-101B-9397-08002B2CF9AE}" pid="6" name="DeepDiveData_003">
    <vt:lpwstr>bmFiaWxpdHkuIn1dLCJwc0R1cmF0aW9uIjoiNiBNb250aHMiLCJtc0R1cmF0aW9uIjoiNSB5ZWFycyIsInNvdyI6IkltcGxlbWVudCBhbmQgb3BlcmF0aW9uYWxpemUgUlNHJ3MgU21hcnQgRW52aXJvbm1lbnQgJiBTdXN0YWluYWJpbGl0eSBzb2x1dGlvbiBhcyBhIHVuaWZpZWQgcGxhdGZvcm0gZm9yIGVudmlyb25t</vt:lpwstr>
  </property>
  <property fmtid="{D5CDD505-2E9C-101B-9397-08002B2CF9AE}" pid="7" name="DeepDiveData_004">
    <vt:lpwstr>ZW50YWwgbW9uaXRvcmluZywgZW52aXJvbm1lbnRhbCBpbnRlbGxpZ2VuY2UsIGFzc2V0IG1hbmFnZW1lbnQsIGFuYWx5dGljcywgQUksIHJlcG9ydGluZywgYWxlcnRzLCBhbmQgaW50ZWdyYXRpb24gd2l0aCB0aGUgYnJvYWRlciBTbWFydCBEZXN0aW5hdGlvbiBlY29zeXN0ZW0uIiwic29sdXRpb24iOiJVbmlmaWVk</vt:lpwstr>
  </property>
  <property fmtid="{D5CDD505-2E9C-101B-9397-08002B2CF9AE}" pid="8" name="DeepDiveData_005">
    <vt:lpwstr>IElvVCBQbGF0Zm9ybVxuNCB0eXBlcyBvZiBDYW1lcmFzIChCaXJkIE5lc3QsIFNreSBRdWFsaXR5LCBUcmFwcywgVW5kZXJ3YXRlcilcbjMgdHlwZXMgb2YgU2Vuc29ycyAoSW4tc2l0dSBIeWRyb3Bob25lcywgTUVUIE9jZWFuIEJ1b3lzLCBTa3kgUXVhbGl0eSBNZXRlcnMpXG5JbXBsZW1lbnRhdGlvbiBhbmQgaGFy</vt:lpwstr>
  </property>
  <property fmtid="{D5CDD505-2E9C-101B-9397-08002B2CF9AE}" pid="9" name="DeepDiveData_006">
    <vt:lpwstr>ZHdhcmUgaW50ZWdyYXRpb25cbk1hbmFnZWQgU2VydmljZXMiLCJpbnRlcm5hbCI6W3sidW5pdCI6IlB1bHNlIGJ5IHNvbHV0aW9ucyIsInNjb3BlIjoiU3VwZXJ2aXNpb24ifSx7InVuaXQiOiJQTSIsInNjb3BlIjoiUFMgcHJvamVjdCBtYW5hZ2VtZW50In0seyJ1bml0IjoiTVMiLCJzY29wZSI6Ik1hbmFnZWQgc2Vy</vt:lpwstr>
  </property>
  <property fmtid="{D5CDD505-2E9C-101B-9397-08002B2CF9AE}" pid="10" name="DeepDiveData_007">
    <vt:lpwstr>dmljZSBwcm9qZWN0IG1hbmFnZXIifV0sInZlbmRvcnMiOlt7Im5hbWUiOiJJbnR5eCIsInJlZyI6IlBlbmRpbmciLCJwcmljaW5nIjoiUHJvdGVjdGVkIiwic2NvcGUiOiI0IHR5cGVzIG9mIENhbWVyYXMgKEJpcmQgTmVzdCwgU2t5IFF1YWxpdHksIFRyYXBzLCBVbmRlcndhdGVyKVxuMyB0eXBlcyBvZiBTZW5zb3Jz</vt:lpwstr>
  </property>
  <property fmtid="{D5CDD505-2E9C-101B-9397-08002B2CF9AE}" pid="11" name="DeepDiveData_008">
    <vt:lpwstr>IChJbi1zaXR1IEh5ZHJvcGhvbmVzLCBNRVQgT2NlYW4gQnVveXMsIFNreSBRdWFsaXR5IE1ldGVycykiLCJpbnRlcm5hbCI6dHJ1ZSwianVzdGlmaWNhdGlvbiI6IlB1bHNlIGRlY2xpbmVkIGluIHdyaXRpbmcifSx7Im5hbWUiOiJTZW5zZVRpbWUiLCJyZWciOiJQZW5kaW5nIiwicHJpY2luZyI6IlByb3RlY3RlZCIs</vt:lpwstr>
  </property>
  <property fmtid="{D5CDD505-2E9C-101B-9397-08002B2CF9AE}" pid="12" name="DeepDiveData_009">
    <vt:lpwstr>InNjb3BlIjoiVGhlIFVuaWZpZWQgUGxhdGZvcm0sIFBTIGFuZCBNUy4iLCJpbnRlcm5hbCI6ZmFsc2V9XSwiZHJpdmVyIjoiVGhlIHF1YWxpdHkgb2YgdGhlIGltcGxlbWVudGF0aW9uIGJ5IERFWUFSQVQgaW4gcGhhc2UgMSAoTVZQKSB3YXMgbm90IHVwIHRvIGN1c3RvbWVyIGV4cGVjdGF0aW9ucy5cblByaWNlIiwi</vt:lpwstr>
  </property>
  <property fmtid="{D5CDD505-2E9C-101B-9397-08002B2CF9AE}" pid="13" name="DeepDiveData_010">
    <vt:lpwstr>ZGlmZmVyZW50aWF0b3IiOiJDdXN0b21lciBhbGlnbmVkIHdpdGggSW50eXgsIGFuZCBzb2x1dGlvbnMgYnkgc3RjIGlzIHdvcmtpbmcgd2l0aCBJbnR5eCBpbnN0ZWFkIG9mIERFWUFSQVRcblByb3RlY3Rpb24gZnJvbSBTZW5zZVRpbWUiLCJjb21wZXRpdG9ycyI6W3sibmFtZSI6IkRFWUFSQVQifV0sInByb2FjdGl2</vt:lpwstr>
  </property>
  <property fmtid="{D5CDD505-2E9C-101B-9397-08002B2CF9AE}" pid="14" name="DeepDiveData_011">
    <vt:lpwstr>ZSI6IlllcyIsInByb2FjdGl2ZVR5cGUiOlsiUG9DIiwiV29ya3Nob3AiXSwid2luVGVjaCI6W3siYWN0aW9uIjoiQ29tcGx5IHdpdGggdGhlIHRlY2huaWNhbCBjcml0ZXJpYSIsIm93bmVyIjoiTW9oYW1tZWQgUmFiaWUiLCJkYXRlIjoiMjAyNi0wOS0yNCJ9XSwid2luRmluIjpbeyJhY3Rpb24iOiJNZWV0IGN1c3Rv</vt:lpwstr>
  </property>
  <property fmtid="{D5CDD505-2E9C-101B-9397-08002B2CF9AE}" pid="15" name="DeepDiveData_012">
    <vt:lpwstr>bWVyIHRhcmdldCBwcmljZSAoMjhNKSIsIm93bmVyIjoiU2FsZWggSGFsYXdhbmkiLCJkYXRlIjoiMjAyNi0wOS0yNyJ9XSwicmlza1RlY2giOlt7InJpc2siOiJMYWNrIG9mIFB1bHNlIGNhcGFiaWxpdGllcyBpbiBlbnZpcm9ubWVudGFsIG1vbml0b3JpbmciLCJtaXRpZ2F0aW9uIjoiUGFydG5lciB3aXRoIEludHl4</vt:lpwstr>
  </property>
  <property fmtid="{D5CDD505-2E9C-101B-9397-08002B2CF9AE}" pid="16" name="DeepDiveData_013">
    <vt:lpwstr>Iiwib3duZXIiOiJNb2hhbW1lZCBSYWJpZSIsImRhdGUiOiIyMDI2LTA5LTI0IiwiaW1wYWN0IjoiTWVkaXVtIn1dLCJyaXNrRmluIjpbeyJyaXNrIjoiSW5pdGlhbCBwcmljaW5nICgzNU0pIHZzIGN1c3RvbWVyIGJ1ZGdldCAoMjhNKSIsIm1pdGlnYXRpb24iOiJSb3VuZCBvZiBjb21tZXJjaWFsIGRpc2N1c3Npb24g</vt:lpwstr>
  </property>
  <property fmtid="{D5CDD505-2E9C-101B-9397-08002B2CF9AE}" pid="17" name="DeepDiveData_014">
    <vt:lpwstr>d2l0aCB2ZW5kb3JzIiwib3duZXIiOiJTYWxlaCBIYWxhd2FuaSIsImRhdGUiOiIyMDI2LTA5LTI3IiwiaW1wYWN0IjoiSGlnaCJ9XSwiZ3JvdXBzIjpbeyJuYW1lIjoiSW9UIFBsYXRmb3JtIiwicm93cyI6W3siaXRlbSI6IklvVCBQbGF0Zm9ybSIsInByb3ZpZGVyIjoiU2Vuc2VUaW1lIiwiY29tbXVuaWNhdGVkIjoi</vt:lpwstr>
  </property>
  <property fmtid="{D5CDD505-2E9C-101B-9397-08002B2CF9AE}" pid="18" name="DeepDiveData_015">
    <vt:lpwstr>WWVzIiwicXVvdGVSZWMiOiJObyIsInRwUmVjIjoiTm8iLCJxdW90ZVZhbCI6Ik5vIiwidHBWYWwiOiJObyIsImNvbW1lbnRzIjoiTi9BIn1dfSx7Im5hbWUiOiJIYXJkd2FyZSIsInJvd3MiOlt7Iml0ZW0iOiJCaXJkIE5lc3QiLCJwcm92aWRlciI6IkludHl4IiwiY29tbXVuaWNhdGVkIjoiWWVzIiwicXVvdGVSZWMi</vt:lpwstr>
  </property>
  <property fmtid="{D5CDD505-2E9C-101B-9397-08002B2CF9AE}" pid="19" name="DeepDiveData_016">
    <vt:lpwstr>OiJObyIsInRwUmVjIjoiTm8iLCJxdW90ZVZhbCI6Ik5vIiwidHBWYWwiOiJObyIsImNvbW1lbnRzIjoiTi9BIn0seyJpdGVtIjoiU2t5IFF1YWxpdHkiLCJwcm92aWRlciI6IkludHl4IiwiY29tbXVuaWNhdGVkIjoiTm8iLCJxdW90ZVJlYyI6Ik5vIiwidHBSZWMiOiJObyIsInF1b3RlVmFsIjoiTm8iLCJ0cFZhbCI6</vt:lpwstr>
  </property>
  <property fmtid="{D5CDD505-2E9C-101B-9397-08002B2CF9AE}" pid="20" name="DeepDiveData_017">
    <vt:lpwstr>Ik5vIiwiY29tbWVudHMiOiJOL0EifSx7Iml0ZW0iOiJUcmFwcyIsInByb3ZpZGVyIjoiSW50eXgiLCJjb21tdW5pY2F0ZWQiOiJObyIsInF1b3RlUmVjIjoiTm8iLCJ0cFJlYyI6Ik5vIiwicXVvdGVWYWwiOiJObyIsInRwVmFsIjoiTm8iLCJjb21tZW50cyI6Ik4vQSJ9LHsiaXRlbSI6IlVuZGVyd2F0ZXIiLCJwcm92</vt:lpwstr>
  </property>
  <property fmtid="{D5CDD505-2E9C-101B-9397-08002B2CF9AE}" pid="21" name="DeepDiveData_018">
    <vt:lpwstr>aWRlciI6IkludHl4IiwiY29tbXVuaWNhdGVkIjoiTm8iLCJxdW90ZVJlYyI6Ik5vIiwidHBSZWMiOiJObyIsInF1b3RlVmFsIjoiTm8iLCJ0cFZhbCI6Ik5vIiwiY29tbWVudHMiOiJOL0EifSx7Iml0ZW0iOiJJbi1zaXR1IEh5ZHJvcGhvbmVzIiwicHJvdmlkZXIiOiJJbnR5eCIsImNvbW11bmljYXRlZCI6Ik5vIiwi</vt:lpwstr>
  </property>
  <property fmtid="{D5CDD505-2E9C-101B-9397-08002B2CF9AE}" pid="22" name="DeepDiveData_019">
    <vt:lpwstr>cXVvdGVSZWMiOiJObyIsInRwUmVjIjoiTm8iLCJxdW90ZVZhbCI6Ik5vIiwidHBWYWwiOiJObyIsImNvbW1lbnRzIjoiTi9BIn0seyJpdGVtIjoiTUVUIE9jZWFuIEJ1b3lzIiwicHJvdmlkZXIiOiJJbnR5eCIsImNvbW11bmljYXRlZCI6Ik5vIiwicXVvdGVSZWMiOiJObyIsInRwUmVjIjoiTm8iLCJxdW90ZVZhbCI6</vt:lpwstr>
  </property>
  <property fmtid="{D5CDD505-2E9C-101B-9397-08002B2CF9AE}" pid="23" name="DeepDiveData_020">
    <vt:lpwstr>Ik5vIiwidHBWYWwiOiJObyIsImNvbW1lbnRzIjoiTi9BIn0seyJpdGVtIjoiU2t5IFF1YWxpdHkgTWV0ZXJzIiwicHJvdmlkZXIiOiJJbnR5eCIsImNvbW11bmljYXRlZCI6Ik5vIiwicXVvdGVSZWMiOiJObyIsInRwUmVjIjoiTm8iLCJxdW90ZVZhbCI6Ik5vIiwidHBWYWwiOiJObyIsImNvbW1lbnRzIjoiTi9BIn1d</vt:lpwstr>
  </property>
  <property fmtid="{D5CDD505-2E9C-101B-9397-08002B2CF9AE}" pid="24" name="DeepDiveData_021">
    <vt:lpwstr>fV0sInN1cHBvcnQiOlt7Im5lZWQiOiJQdWxzZSBieSBzb2x1dGlvbnMgdG8gcGFydGljaXBhdGUgaW4gdGhlIGludGVncmF0aW9uIHBhcnQiLCJmcm9tIjoiUHVsc2UgYnkgc29sdXRpb25zIiwicHJpb3JpdHkiOiJNZWRpdW0iLCJkYXRlIjoiMjAyNi0wOS0xNyJ9XX0=</vt:lpwstr>
  </property>
</Properties>
</file>